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4412" y="-16761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2762926" y="913926"/>
            <a:ext cx="39061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accent5"/>
                </a:solidFill>
              </a:rPr>
              <a:t>RFE </a:t>
            </a:r>
            <a:r>
              <a:rPr lang="en-US" sz="2200" b="1" dirty="0" err="1" smtClean="0">
                <a:solidFill>
                  <a:schemeClr val="accent5"/>
                </a:solidFill>
              </a:rPr>
              <a:t>Classication</a:t>
            </a:r>
            <a:r>
              <a:rPr lang="en-US" sz="2200" b="1" dirty="0" smtClean="0">
                <a:solidFill>
                  <a:schemeClr val="accent5"/>
                </a:solidFill>
              </a:rPr>
              <a:t> Result</a:t>
            </a:r>
            <a:endParaRPr lang="en-IN" sz="2200" b="1" u="sng" dirty="0">
              <a:solidFill>
                <a:schemeClr val="accent5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272" y="1628800"/>
            <a:ext cx="4336826" cy="206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25996" y="3897343"/>
            <a:ext cx="748883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Most models like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Logistic, SVM (linear &amp; non-linear), and KNN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show consistent performance (~0.94–0.98), indicating stable and reliable predictions across different feature sets.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Naive Bayes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shows a significant drop (down to 0.79), suggesting it is less suitable for this dataset compared to other models.`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Overall,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Decision Tree and Random Forest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perform competitively, but simpler models like Logistic and SVM already achieve high accuracy, making them efficient choices.</a:t>
            </a:r>
          </a:p>
        </p:txBody>
      </p:sp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3789041"/>
            <a:ext cx="72994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/>
              <a:t>Most models achieve high accuracy (</a:t>
            </a:r>
            <a:r>
              <a:rPr lang="en-US" sz="1400" b="1" dirty="0"/>
              <a:t>0.95–0.98</a:t>
            </a:r>
            <a:r>
              <a:rPr lang="en-US" sz="1400" dirty="0"/>
              <a:t>), with </a:t>
            </a:r>
            <a:r>
              <a:rPr lang="en-US" sz="1400" b="1" dirty="0"/>
              <a:t>Logistic, SVM (linear), KNN, Decision Tree, and Random Forest</a:t>
            </a:r>
            <a:r>
              <a:rPr lang="en-US" sz="1400" dirty="0"/>
              <a:t> showing strong and consistent performance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KNN and Random Forest</a:t>
            </a:r>
            <a:r>
              <a:rPr lang="en-US" sz="1400" dirty="0"/>
              <a:t> slightly outperform others in some cases (up to 0.98), indicating better adaptability to feature variations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Naive Bayes again underperforms</a:t>
            </a:r>
            <a:r>
              <a:rPr lang="en-US" sz="1400" dirty="0"/>
              <a:t> (dropping to ~0.81–0.87), confirming it is less suitable for this dataset compared to other models.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143" y="764771"/>
            <a:ext cx="4850876" cy="2383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09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304" y="620688"/>
            <a:ext cx="576064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/>
              <a:t>Most models achieve </a:t>
            </a:r>
            <a:r>
              <a:rPr lang="en-US" sz="1400" b="1" dirty="0"/>
              <a:t>very high accuracy (0.97–0.99)</a:t>
            </a:r>
            <a:r>
              <a:rPr lang="en-US" sz="1400" dirty="0"/>
              <a:t>, showing that the selected features provide strong predictive power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SVM (linear), Logistic, and Random Forest</a:t>
            </a:r>
            <a:r>
              <a:rPr lang="en-US" sz="1400" dirty="0"/>
              <a:t> consistently perform at the top, indicating stable and reliable performance across different cases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Naive Bayes again shows lower accuracy (down to ~0.85–0.91)</a:t>
            </a:r>
            <a:r>
              <a:rPr lang="en-US" sz="1400" dirty="0"/>
              <a:t>, confirming it is less effective for this dataset compared to other models.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020" y="764704"/>
            <a:ext cx="3155460" cy="1700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43608" y="3789040"/>
            <a:ext cx="729943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/>
              <a:t>Across feature sets </a:t>
            </a:r>
            <a:r>
              <a:rPr lang="en-US" sz="1400" b="1" dirty="0"/>
              <a:t>(3, 4, and 5 features)</a:t>
            </a:r>
            <a:r>
              <a:rPr lang="en-US" sz="1400" dirty="0"/>
              <a:t>, model performance improves as the number of selected features increases, with the best accuracy observed using </a:t>
            </a:r>
            <a:r>
              <a:rPr lang="en-US" sz="1400" b="1" dirty="0"/>
              <a:t>5 features (up to 0.99</a:t>
            </a:r>
            <a:r>
              <a:rPr lang="en-US" sz="1400" b="1" dirty="0" smtClean="0"/>
              <a:t>)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Logistic Regression, SVM (linear), and Random Forest</a:t>
            </a:r>
            <a:r>
              <a:rPr lang="en-US" sz="1400" dirty="0"/>
              <a:t> consistently deliver high and stable accuracy across all cases, making them the most reliable models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Naive Bayes shows comparatively lower performance</a:t>
            </a:r>
            <a:r>
              <a:rPr lang="en-US" sz="1400" dirty="0"/>
              <a:t>, indicating it is less suitable for this dataset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/>
              <a:t>Overall, using </a:t>
            </a:r>
            <a:r>
              <a:rPr lang="en-US" sz="1400" b="1" dirty="0"/>
              <a:t>5 important features provides the best balance between accuracy and feature reduction</a:t>
            </a:r>
            <a:r>
              <a:rPr lang="en-US" sz="1400" dirty="0"/>
              <a:t>, making it the optimal choice.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4533" y="3140968"/>
            <a:ext cx="3906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5"/>
                </a:solidFill>
              </a:rPr>
              <a:t>Final Summary</a:t>
            </a:r>
            <a:endParaRPr lang="en-IN" sz="2400" b="1" u="sng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49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1760" y="317985"/>
            <a:ext cx="4567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accent5"/>
                </a:solidFill>
              </a:rPr>
              <a:t>Feature </a:t>
            </a:r>
            <a:r>
              <a:rPr lang="en-US" sz="2400" b="1" dirty="0" smtClean="0">
                <a:solidFill>
                  <a:schemeClr val="accent5"/>
                </a:solidFill>
              </a:rPr>
              <a:t>Importance </a:t>
            </a:r>
            <a:r>
              <a:rPr lang="en-US" sz="2400" b="1" dirty="0" smtClean="0">
                <a:solidFill>
                  <a:schemeClr val="accent5"/>
                </a:solidFill>
              </a:rPr>
              <a:t>Algorithm</a:t>
            </a:r>
            <a:endParaRPr lang="en-IN" sz="2400" b="1" u="sng" dirty="0">
              <a:solidFill>
                <a:schemeClr val="accent5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61" y="4365104"/>
            <a:ext cx="6080531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97" y="1124744"/>
            <a:ext cx="5767468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928" y="2708920"/>
            <a:ext cx="3321605" cy="133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982958"/>
            <a:ext cx="2413034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8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5374" y="4509120"/>
            <a:ext cx="841450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top features </a:t>
            </a:r>
            <a:r>
              <a:rPr lang="en-US" sz="1600" b="1" dirty="0" err="1"/>
              <a:t>hrmo</a:t>
            </a:r>
            <a:r>
              <a:rPr lang="en-US" sz="1600" b="1" dirty="0"/>
              <a:t> (21.5%)</a:t>
            </a:r>
            <a:r>
              <a:rPr lang="en-US" sz="1600" dirty="0"/>
              <a:t> and </a:t>
            </a:r>
            <a:r>
              <a:rPr lang="en-US" sz="1600" b="1" dirty="0" err="1"/>
              <a:t>pcv</a:t>
            </a:r>
            <a:r>
              <a:rPr lang="en-US" sz="1600" b="1" dirty="0"/>
              <a:t> (21.0%)</a:t>
            </a:r>
            <a:r>
              <a:rPr lang="en-US" sz="1600" dirty="0"/>
              <a:t> dominate the model, contributing over </a:t>
            </a:r>
            <a:r>
              <a:rPr lang="en-US" sz="1600" b="1" dirty="0"/>
              <a:t>40% of total importance</a:t>
            </a:r>
            <a:r>
              <a:rPr lang="en-US" sz="1600" dirty="0"/>
              <a:t>, indicating they are the most critical factors for prediction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/>
              <a:t>Features like </a:t>
            </a:r>
            <a:r>
              <a:rPr lang="en-US" sz="1600" b="1" dirty="0" err="1"/>
              <a:t>sc</a:t>
            </a:r>
            <a:r>
              <a:rPr lang="en-US" sz="1600" b="1" dirty="0"/>
              <a:t>, </a:t>
            </a:r>
            <a:r>
              <a:rPr lang="en-US" sz="1600" b="1" dirty="0" err="1"/>
              <a:t>rc</a:t>
            </a:r>
            <a:r>
              <a:rPr lang="en-US" sz="1600" b="1" dirty="0"/>
              <a:t>, and </a:t>
            </a:r>
            <a:r>
              <a:rPr lang="en-US" sz="1600" b="1" dirty="0" err="1"/>
              <a:t>bgr</a:t>
            </a:r>
            <a:r>
              <a:rPr lang="en-US" sz="1600" dirty="0"/>
              <a:t> provide moderate influence, while others such as </a:t>
            </a:r>
            <a:r>
              <a:rPr lang="en-US" sz="1600" b="1" dirty="0" err="1"/>
              <a:t>htn_yes</a:t>
            </a:r>
            <a:r>
              <a:rPr lang="en-US" sz="1600" b="1" dirty="0"/>
              <a:t> and </a:t>
            </a:r>
            <a:r>
              <a:rPr lang="en-US" sz="1600" b="1" dirty="0" err="1"/>
              <a:t>dm_yes</a:t>
            </a:r>
            <a:r>
              <a:rPr lang="en-US" sz="1600" dirty="0"/>
              <a:t> have comparatively lower impact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/>
              <a:t>Overall, the model relies heavily on a </a:t>
            </a:r>
            <a:r>
              <a:rPr lang="en-US" sz="1600" b="1" dirty="0"/>
              <a:t>small set of key features</a:t>
            </a:r>
            <a:r>
              <a:rPr lang="en-US" sz="1600" dirty="0"/>
              <a:t>, suggesting effective dimensionality reduction is possible without major accuracy loss.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74304"/>
            <a:ext cx="4124325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625" y="1039975"/>
            <a:ext cx="4718863" cy="3053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211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1181</TotalTime>
  <Words>418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Essential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39</cp:revision>
  <dcterms:created xsi:type="dcterms:W3CDTF">2026-01-12T09:38:17Z</dcterms:created>
  <dcterms:modified xsi:type="dcterms:W3CDTF">2026-03-20T06:29:20Z</dcterms:modified>
</cp:coreProperties>
</file>